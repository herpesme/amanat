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1C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1887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spc="200" kern="0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AMANAT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04672" y="2121408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Amount-contingent settlement for agent-initiated payments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04672" y="2834640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i="1" dirty="0">
                <a:solidFill>
                  <a:srgbClr val="CE713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“We would rather refuse our own mechanism than ship a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i="1" dirty="0">
                <a:solidFill>
                  <a:srgbClr val="CE713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capability we could not cite.”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04672" y="3730752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Eeshan Singh Pokharia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eeshan.singh53@gmail.com  ·  github.com/HERPESME/amanat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PROBLEM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 agent pays before the price exists.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85800" y="1554480"/>
            <a:ext cx="7772400" cy="566928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554480"/>
            <a:ext cx="713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“Book a cab to the airport — cap it at ₹1,000.”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2542032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₹620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685800" y="3145536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ceiling the agent must commit — before the meter runs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383280" y="2542032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 retries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383280" y="3145536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if the ceiling is low — the debit dies; NPCI grants none for this decline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080760" y="2542032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90 days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080760" y="3145536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if it is high — the customer’s money can sit blocked for nothing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85800" y="404164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 human watches the meter and pays what it says. An agent is asked to forecast — on rails built for known prices.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UPI Reserve Pay (Single Block Multiple Debit) holds funds in the customer’s own account · NPCI OC-228 / OC-200, read from the scanned circulars.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THE MARKET LACKS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Everyone proves permission. Then stops.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795528" y="170078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D797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STANDARD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944368" y="1700784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D797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IT PROVES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373368" y="170078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D797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WHERE IT STOPS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85800" y="2011680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2066544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Google AP2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944368" y="2066544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 signed mandate — the agent may spend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73368" y="206654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authorization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2468880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523744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OpenAI / Stripe ACP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944368" y="2523744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checkout of a known amount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73368" y="252374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prepay · fixed price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2926080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2980944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Coinbase x402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944368" y="2980944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 machine paid per call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73368" y="298094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prepay · no contingency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85800" y="3383280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3438144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Visa TAP · MC Agent Pay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944368" y="3438144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who the agent is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73368" y="343814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identity only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85800" y="3913632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041648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GAP 1   </a:t>
            </a:r>
            <a:pPr indent="0" marL="0">
              <a:buNone/>
            </a:pPr>
            <a:r>
              <a:rPr lang="en-US" sz="120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settle an amount that does not exist yet — ceiling now, actual later.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85800" y="437083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GAP 2   </a:t>
            </a:r>
            <a:pPr indent="0" marL="0">
              <a:buNone/>
            </a:pPr>
            <a:r>
              <a:rPr lang="en-US" sz="120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“my agent did it” — no post-transaction record to settle a dispute against.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Gap 2 in the industry’s own words — the card networks and dispute processors flag the post-authorization layer as unaddressed.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D1C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E713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TRAP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Razorpay already runs agentic payments.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841248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Reserve Pay pilots are live — Zomato, Swiggy, Zepto.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41248" y="2057400"/>
            <a:ext cx="7461504" cy="14630"/>
          </a:xfrm>
          <a:prstGeom prst="rect">
            <a:avLst/>
          </a:prstGeom>
          <a:solidFill>
            <a:srgbClr val="44413C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23317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E713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 we did not build another checkout.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41248" y="28803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Checkout is solved. What is not solved is settling an amount that does not exist yet — and proving afterwards, to someone who does not trust you, what the agent’s money actually did.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41248" y="397764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4C0B7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interesting problem is not moving the money. It is the receipt.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THESIS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unit of trust: a signed transition.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74904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ED8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16642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6A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transition carries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41832" y="2103120"/>
            <a:ext cx="82296" cy="82296"/>
          </a:xfrm>
          <a:prstGeom prst="ellipse">
            <a:avLst/>
          </a:prstGeom>
          <a:solidFill>
            <a:srgbClr val="C2622C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04825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proposal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697480" y="2048256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model’s ask, verbatim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941832" y="2532888"/>
            <a:ext cx="82296" cy="82296"/>
          </a:xfrm>
          <a:prstGeom prst="ellipse">
            <a:avLst/>
          </a:prstGeom>
          <a:solidFill>
            <a:srgbClr val="C2622C"/>
          </a:solidFill>
          <a:ln/>
        </p:spPr>
      </p:sp>
      <p:sp>
        <p:nvSpPr>
          <p:cNvPr id="11" name="Text 9"/>
          <p:cNvSpPr/>
          <p:nvPr/>
        </p:nvSpPr>
        <p:spPr>
          <a:xfrm>
            <a:off x="1143000" y="2478024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verdict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697480" y="2478024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deterministic — and it cites its reason</a:t>
            </a:r>
            <a:endParaRPr lang="en-US" sz="880" dirty="0"/>
          </a:p>
        </p:txBody>
      </p:sp>
      <p:sp>
        <p:nvSpPr>
          <p:cNvPr id="13" name="Shape 11"/>
          <p:cNvSpPr/>
          <p:nvPr/>
        </p:nvSpPr>
        <p:spPr>
          <a:xfrm>
            <a:off x="941832" y="2962656"/>
            <a:ext cx="82296" cy="82296"/>
          </a:xfrm>
          <a:prstGeom prst="ellipse">
            <a:avLst/>
          </a:prstGeom>
          <a:solidFill>
            <a:srgbClr val="C2622C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2907792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rail state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697480" y="2907792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block · debit · release · refuse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941832" y="3392424"/>
            <a:ext cx="82296" cy="82296"/>
          </a:xfrm>
          <a:prstGeom prst="ellipse">
            <a:avLst/>
          </a:prstGeom>
          <a:solidFill>
            <a:srgbClr val="C2622C"/>
          </a:solidFill>
          <a:ln/>
        </p:spPr>
      </p:sp>
      <p:sp>
        <p:nvSpPr>
          <p:cNvPr id="17" name="Text 15"/>
          <p:cNvSpPr/>
          <p:nvPr/>
        </p:nvSpPr>
        <p:spPr>
          <a:xfrm>
            <a:off x="1143000" y="333756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 Ed25519 signature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697480" y="33375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over the entry’s bytes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941832" y="3822192"/>
            <a:ext cx="82296" cy="82296"/>
          </a:xfrm>
          <a:prstGeom prst="ellipse">
            <a:avLst/>
          </a:prstGeom>
          <a:solidFill>
            <a:srgbClr val="C2622C"/>
          </a:solidFill>
          <a:ln/>
        </p:spPr>
      </p:sp>
      <p:sp>
        <p:nvSpPr>
          <p:cNvPr id="20" name="Text 18"/>
          <p:cNvSpPr/>
          <p:nvPr/>
        </p:nvSpPr>
        <p:spPr>
          <a:xfrm>
            <a:off x="1143000" y="3767328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 hash link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697480" y="376732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to the entry before it</a:t>
            </a:r>
            <a:endParaRPr lang="en-US" sz="880" dirty="0"/>
          </a:p>
        </p:txBody>
      </p:sp>
      <p:sp>
        <p:nvSpPr>
          <p:cNvPr id="22" name="Shape 20"/>
          <p:cNvSpPr/>
          <p:nvPr/>
        </p:nvSpPr>
        <p:spPr>
          <a:xfrm>
            <a:off x="4709160" y="1481328"/>
            <a:ext cx="3749040" cy="2834640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23" name="Text 21"/>
          <p:cNvSpPr/>
          <p:nvPr/>
        </p:nvSpPr>
        <p:spPr>
          <a:xfrm>
            <a:off x="4965192" y="16642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E713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Three consequences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65192" y="202996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Refusal is evidence.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965192" y="2276856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times it said no are in the record, signed — the half ordinary logs leave out.</a:t>
            </a:r>
            <a:endParaRPr lang="en-US" sz="930" dirty="0"/>
          </a:p>
        </p:txBody>
      </p:sp>
      <p:sp>
        <p:nvSpPr>
          <p:cNvPr id="26" name="Text 24"/>
          <p:cNvSpPr/>
          <p:nvPr/>
        </p:nvSpPr>
        <p:spPr>
          <a:xfrm>
            <a:off x="4965192" y="276148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model holds no authority.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965192" y="3008376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Gemini or Claude, swappable. A wild prompt yields refusals, not payments.</a:t>
            </a:r>
            <a:endParaRPr lang="en-US" sz="930" dirty="0"/>
          </a:p>
        </p:txBody>
      </p:sp>
      <p:sp>
        <p:nvSpPr>
          <p:cNvPr id="28" name="Text 26"/>
          <p:cNvSpPr/>
          <p:nvPr/>
        </p:nvSpPr>
        <p:spPr>
          <a:xfrm>
            <a:off x="4965192" y="349300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Anyone can verify.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965192" y="3739896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packet re-checks its own hashes and signatures in your browser — zero trust in us.</a:t>
            </a:r>
            <a:endParaRPr lang="en-US" sz="930" dirty="0"/>
          </a:p>
        </p:txBody>
      </p:sp>
      <p:sp>
        <p:nvSpPr>
          <p:cNvPr id="30" name="Text 28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 settlement is an assembly of transitions that survived the policy engine. What was refused is never hidden.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HOW IT WORKS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Propose. Dispose. Enforce. Record.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85800" y="1417320"/>
            <a:ext cx="777240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DED8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2688" y="1901952"/>
            <a:ext cx="117043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8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96696" y="1947672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ENVELOPE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96696" y="2148840"/>
            <a:ext cx="10424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budget · payee · expiry — the human’s grant</a:t>
            </a:r>
            <a:endParaRPr lang="en-US" sz="760" dirty="0"/>
          </a:p>
        </p:txBody>
      </p:sp>
      <p:sp>
        <p:nvSpPr>
          <p:cNvPr id="9" name="Shape 7"/>
          <p:cNvSpPr/>
          <p:nvPr/>
        </p:nvSpPr>
        <p:spPr>
          <a:xfrm>
            <a:off x="2487168" y="1901952"/>
            <a:ext cx="117043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833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2551176" y="1947672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MODEL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551176" y="2148840"/>
            <a:ext cx="10424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proposes only — Gemini / Claude</a:t>
            </a:r>
            <a:endParaRPr lang="en-US" sz="760" dirty="0"/>
          </a:p>
        </p:txBody>
      </p:sp>
      <p:sp>
        <p:nvSpPr>
          <p:cNvPr id="12" name="Shape 10"/>
          <p:cNvSpPr/>
          <p:nvPr/>
        </p:nvSpPr>
        <p:spPr>
          <a:xfrm>
            <a:off x="4041648" y="1828800"/>
            <a:ext cx="1371600" cy="859536"/>
          </a:xfrm>
          <a:prstGeom prst="rect">
            <a:avLst/>
          </a:prstGeom>
          <a:solidFill>
            <a:srgbClr val="1D1C1A"/>
          </a:solidFill>
          <a:ln w="12700">
            <a:solidFill>
              <a:srgbClr val="1D1C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05656" y="1874520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POLICY ENGINE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105656" y="2075688"/>
            <a:ext cx="12435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deterministic · envelope, then rail legality</a:t>
            </a:r>
            <a:endParaRPr lang="en-US" sz="760" dirty="0"/>
          </a:p>
        </p:txBody>
      </p:sp>
      <p:sp>
        <p:nvSpPr>
          <p:cNvPr id="15" name="Shape 13"/>
          <p:cNvSpPr/>
          <p:nvPr/>
        </p:nvSpPr>
        <p:spPr>
          <a:xfrm>
            <a:off x="5989320" y="1591056"/>
            <a:ext cx="1481328" cy="566928"/>
          </a:xfrm>
          <a:prstGeom prst="rect">
            <a:avLst/>
          </a:prstGeom>
          <a:solidFill>
            <a:srgbClr val="FBEAE5"/>
          </a:solidFill>
          <a:ln w="12700">
            <a:solidFill>
              <a:srgbClr val="C03A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3328" y="1636776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A2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REFUSED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053328" y="1837944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with the circular quoted</a:t>
            </a:r>
            <a:endParaRPr lang="en-US" sz="760" dirty="0"/>
          </a:p>
        </p:txBody>
      </p:sp>
      <p:sp>
        <p:nvSpPr>
          <p:cNvPr id="18" name="Shape 16"/>
          <p:cNvSpPr/>
          <p:nvPr/>
        </p:nvSpPr>
        <p:spPr>
          <a:xfrm>
            <a:off x="5989320" y="2395728"/>
            <a:ext cx="14813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8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53328" y="2441448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RAIL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053328" y="2642616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block → debit → release · live on Cashfree</a:t>
            </a:r>
            <a:endParaRPr lang="en-US" sz="760" dirty="0"/>
          </a:p>
        </p:txBody>
      </p:sp>
      <p:sp>
        <p:nvSpPr>
          <p:cNvPr id="21" name="Shape 19"/>
          <p:cNvSpPr/>
          <p:nvPr/>
        </p:nvSpPr>
        <p:spPr>
          <a:xfrm>
            <a:off x="7680960" y="2395728"/>
            <a:ext cx="713232" cy="566928"/>
          </a:xfrm>
          <a:prstGeom prst="rect">
            <a:avLst/>
          </a:prstGeom>
          <a:solidFill>
            <a:srgbClr val="E9F3EB"/>
          </a:solidFill>
          <a:ln w="12700">
            <a:solidFill>
              <a:srgbClr val="1E7B4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44968" y="2441448"/>
            <a:ext cx="585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7B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SETTLED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103120" y="2258568"/>
            <a:ext cx="384048" cy="0"/>
          </a:xfrm>
          <a:prstGeom prst="line">
            <a:avLst/>
          </a:prstGeom>
          <a:noFill/>
          <a:ln w="15240">
            <a:solidFill>
              <a:srgbClr val="6E6A63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3657600" y="2258568"/>
            <a:ext cx="384048" cy="0"/>
          </a:xfrm>
          <a:prstGeom prst="line">
            <a:avLst/>
          </a:prstGeom>
          <a:noFill/>
          <a:ln w="15240">
            <a:solidFill>
              <a:srgbClr val="6E6A63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5413248" y="2084832"/>
            <a:ext cx="576072" cy="-210312"/>
          </a:xfrm>
          <a:prstGeom prst="line">
            <a:avLst/>
          </a:prstGeom>
          <a:noFill/>
          <a:ln w="15240">
            <a:solidFill>
              <a:srgbClr val="6E6A63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413248" y="2468880"/>
            <a:ext cx="576072" cy="182880"/>
          </a:xfrm>
          <a:prstGeom prst="line">
            <a:avLst/>
          </a:prstGeom>
          <a:noFill/>
          <a:ln w="15240">
            <a:solidFill>
              <a:srgbClr val="6E6A63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7470648" y="2679192"/>
            <a:ext cx="210312" cy="0"/>
          </a:xfrm>
          <a:prstGeom prst="line">
            <a:avLst/>
          </a:prstGeom>
          <a:noFill/>
          <a:ln w="15240">
            <a:solidFill>
              <a:srgbClr val="6E6A63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32688" y="3218688"/>
            <a:ext cx="7424928" cy="365760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29" name="Text 27"/>
          <p:cNvSpPr/>
          <p:nvPr/>
        </p:nvSpPr>
        <p:spPr>
          <a:xfrm>
            <a:off x="1042416" y="321868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EVIDENCE CHAIN — every proposal, verdict, transition and refusal · Ed25519 · hash-linked</a:t>
            </a:r>
            <a:endParaRPr lang="en-US" sz="880" dirty="0"/>
          </a:p>
        </p:txBody>
      </p:sp>
      <p:sp>
        <p:nvSpPr>
          <p:cNvPr id="30" name="Shape 28"/>
          <p:cNvSpPr/>
          <p:nvPr/>
        </p:nvSpPr>
        <p:spPr>
          <a:xfrm>
            <a:off x="4727448" y="2688336"/>
            <a:ext cx="0" cy="530352"/>
          </a:xfrm>
          <a:prstGeom prst="line">
            <a:avLst/>
          </a:prstGeom>
          <a:noFill/>
          <a:ln w="15240">
            <a:solidFill>
              <a:srgbClr val="9A958C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6729984" y="2962656"/>
            <a:ext cx="0" cy="256032"/>
          </a:xfrm>
          <a:prstGeom prst="line">
            <a:avLst/>
          </a:prstGeom>
          <a:noFill/>
          <a:ln w="15240">
            <a:solidFill>
              <a:srgbClr val="9A958C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685800" y="3931920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LLM proposes. The policy engine disposes. The rail enforces.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685800" y="42793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No path reaches money without a verdict — pinned by test, then held over 600+ random action sequences per CI run.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Invariants proven property-based, not by example: debited + released ≤ blocked · blocked ≤ budget · available ≥ 0. No counterexample found.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EVIDENCE DISCIPLINE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gate held — against us.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85800" y="1444752"/>
            <a:ext cx="3749040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DED8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591056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one day, it refused its own mechanism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14400" y="1920240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Partial debit rested on vendor docs. Tier UNVERIFIED — so permits() returned False, for us too. Absence of evidence is not permission.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14400" y="2615184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7D797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SourceTier.UNVERIFIED  →  permits() == False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4709160" y="1444752"/>
            <a:ext cx="3749040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DED8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591056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Then we read the circular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937760" y="1920240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NPCI/UPI/OC-228 — image-only scans, read page by page. Partial debit holds by necessary implication; tier PRIMARY, quote attached. The gate opened.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937760" y="2578608"/>
            <a:ext cx="3337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“The current block limits (unutilised) are always checked before initiating a debit.”</a:t>
            </a:r>
            <a:endParaRPr lang="en-US" sz="880" dirty="0"/>
          </a:p>
        </p:txBody>
      </p:sp>
      <p:sp>
        <p:nvSpPr>
          <p:cNvPr id="13" name="Shape 11"/>
          <p:cNvSpPr/>
          <p:nvPr/>
        </p:nvSpPr>
        <p:spPr>
          <a:xfrm>
            <a:off x="685800" y="3246120"/>
            <a:ext cx="7772400" cy="960120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3319272"/>
            <a:ext cx="713232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E713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Five evidence tiers, one rule. </a:t>
            </a:r>
            <a:pPr indent="0" marL="0">
              <a:buNone/>
            </a:pPr>
            <a:r>
              <a:rPr lang="en-US" sz="1150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PRIMARY (circulars) · OBSERVED (the live API’s own response) · SECONDARY (PSP docs) are usable as fact. MARKETING and UNVERIFIED never are — 28 capabilities across 5 rails, every one cited or refused.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day of refusal is preserved in the suite as a record, not deleted — the gate keying off evidence, not convenience, is the design.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MEASURED, NOT QUOTED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Two real rails: one accepts, one refuses.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731520" y="15361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D797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PROBE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3063240" y="15361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D797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RESULT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4480560" y="15361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D797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IT MEANS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85800" y="1810512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883664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Cashfree · UPI pre-auth debit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063240" y="1883664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7B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HTTP 200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480560" y="1883664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captured ₹470 of a ₹620 hold; the ₹150 auto-returned — amount-contingent settlement, accepted live on a regulated UPI rail.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685800" y="2487168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56032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Razorpay · partial capture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063240" y="256032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3A2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HTTP 400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480560" y="2560320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identical shape, refused: “Capture amount must be equal to the amount authorized” — live rail and docs agree word for word.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685800" y="3163824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23697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Razorpay · live settlement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063240" y="3236976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7B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rfnd_TT5K…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480560" y="3236976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capture ₹620 → refund ₹150 → merchant nets ₹470 — a real refund id, inside the signed chain.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685800" y="3840480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91363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Setu UMAP · reachability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063240" y="3913632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NXDOMAIN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480560" y="391363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credentials accepted (HTTP 200) — but uatapi.setu.co / api.setu.co resolve on neither Google nor Cloudflare DNS.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685800" y="4517136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Reproduce: python -m amanat.rails.probe_cashfree · python -m amanat.rails.probe · python -m amanat.rails.settle — sandbox throughout; no real money moved.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ADD-ON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“My agent did it.” Check the record.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85800" y="1645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✓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33272" y="165506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SUPPORTS MERCHANT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429000" y="1645920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“The ₹470 charged was authorized and within every bound” — cites the mandate at entry #0, the debit at entry #8.</a:t>
            </a:r>
            <a:endParaRPr lang="en-US" sz="1030" dirty="0"/>
          </a:p>
        </p:txBody>
      </p:sp>
      <p:sp>
        <p:nvSpPr>
          <p:cNvPr id="8" name="Text 6"/>
          <p:cNvSpPr/>
          <p:nvPr/>
        </p:nvSpPr>
        <p:spPr>
          <a:xfrm>
            <a:off x="685800" y="2322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●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33272" y="2331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CHARGE NOT IN CHAIN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429000" y="2322576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“The disputed ₹5,000 was never charged — that attempt was refused at entry #2.” Refusals are evidence.</a:t>
            </a:r>
            <a:endParaRPr lang="en-US" sz="1030" dirty="0"/>
          </a:p>
        </p:txBody>
      </p:sp>
      <p:sp>
        <p:nvSpPr>
          <p:cNvPr id="11" name="Text 9"/>
          <p:cNvSpPr/>
          <p:nvPr/>
        </p:nvSpPr>
        <p:spPr>
          <a:xfrm>
            <a:off x="685800" y="29992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A2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✗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33272" y="3008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A2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OUTSIDE EVIDENCE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429000" y="2999232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“The signed record cannot establish delivery.” The honest limit, stated — not papered over.</a:t>
            </a:r>
            <a:endParaRPr lang="en-US" sz="1030" dirty="0"/>
          </a:p>
        </p:txBody>
      </p:sp>
      <p:sp>
        <p:nvSpPr>
          <p:cNvPr id="14" name="Shape 12"/>
          <p:cNvSpPr/>
          <p:nvPr/>
        </p:nvSpPr>
        <p:spPr>
          <a:xfrm>
            <a:off x="685800" y="3767328"/>
            <a:ext cx="7772400" cy="841248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3840480"/>
            <a:ext cx="71323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E713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 evidence finding — not an issuer decision. </a:t>
            </a:r>
            <a:pPr indent="0" marL="0">
              <a:buNone/>
            </a:pPr>
            <a:r>
              <a:rPr lang="en-US" sz="1150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It states what the signed record shows. No win-rate is claimed — win-rate is the issuer’s call, not the record’s. The export is a one-click representment packet: authorization + evidence + finding.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Adjudicated against a real AP2 Open Payment Mandate — vct mandate.payment.open.1, round-tripped through AP2’s own schema, not borrowed field names.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NUMBERS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Every figure matches the runner.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85800" y="157276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207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85800" y="21762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tests — all pass with zero credentials and zero network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651760" y="157276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23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2651760" y="21762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adversarial attacks — homoglyphs, overflows, sequence abuse — all refused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617720" y="157276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600+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617720" y="21762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random action sequences per CI run — money invariants held after every step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83680" y="157276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28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583680" y="21762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rail capabilities across 5 rails — every one cited, or refused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3127248"/>
            <a:ext cx="7772400" cy="1188720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3200400"/>
            <a:ext cx="713232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E713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ceiling model, honestly. </a:t>
            </a:r>
            <a:pPr indent="0" marL="0">
              <a:buNone/>
            </a:pPr>
            <a:r>
              <a:rPr lang="en-US" sz="1150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Conformal quantile regression on 300k real NYC metered fares. Finding: the coverage guarantee is distribution-free but not shift-free — 18 of 20 configs missed nominal under a real temporal split; recency calibration narrows the gap ~10× (−3.55pp → +0.91pp). A random split would have passed — and lied about deployment.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No public Indian fare or COD dataset exists — the method transfers, the coefficients do not. Said in the repo, said here.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RUNNING IT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Try to make it misbehave.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7772400" cy="548640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481328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amanat-demo-699979063196.asia-south1.run.app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176272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Attack the envelope → watch the refusal, with its citation → dispute the charge → download the representment packet. Real governed core; bring-your-own-key live Gemini agent; the receipt re-verifies in your browser.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944368"/>
            <a:ext cx="7772400" cy="1335024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3090672"/>
            <a:ext cx="361188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-m amanat.demo</a:t>
            </a:r>
            <a:endParaRPr lang="en-US" sz="10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AEAA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the seven-act walkthrough</a:t>
            </a:r>
            <a:endParaRPr lang="en-US" sz="10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-m amanat.compare</a:t>
            </a:r>
            <a:endParaRPr lang="en-US" sz="10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AEAA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two rails, side by side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46320" y="3090672"/>
            <a:ext cx="361188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-m amanat.dispute.demo</a:t>
            </a:r>
            <a:endParaRPr lang="en-US" sz="10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AEAA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settle on AP2, then contest it</a:t>
            </a:r>
            <a:endParaRPr lang="en-US" sz="10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-m amanat.rails.probe_cashfree</a:t>
            </a:r>
            <a:endParaRPr lang="en-US" sz="10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AEAA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the mechanism, live on a real rail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Cloud Run, scales to zero — it costs nothing idle; open it once beforehand to skip the cold start.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D1C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E713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STATED BEFORE YOU ASK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this is not.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841248" y="148132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SBMD path runs on a simulator — the mechanism does not.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023360" y="1481328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SBMD access needs PSP enablement, so that path is simulated (every semantic cites its circular). But block → partial-debit → release was measured end to end on Cashfree’s UPI pre-auth sandbox: ₹470 of ₹620, HTTP 200.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41248" y="2048256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Consent binding is a placeholder.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023360" y="2048256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Adjudication proves the settlement conformed to the recorded grant — not that a human’s key signed it. AP2’s cnf slot is where that lands.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41248" y="2615184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No risk model of ours.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023360" y="2615184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Razorpay ships RTO Shield. Risk enters through a seam, not a rewrite.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41248" y="3182112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No win-rate, no “first”, no invented data.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023360" y="3182112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Negative findings are promoted, not buried. The adversarial review that killed our own v1 thesis ships in the repo.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41248" y="3785616"/>
            <a:ext cx="7461504" cy="14630"/>
          </a:xfrm>
          <a:prstGeom prst="rect">
            <a:avLst/>
          </a:prstGeom>
          <a:solidFill>
            <a:srgbClr val="44413C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" y="3950208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b="1" dirty="0">
                <a:solidFill>
                  <a:srgbClr val="CE713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Agents will transact before trust does.</a:t>
            </a:r>
            <a:endParaRPr lang="en-US" sz="165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650" b="1" dirty="0">
                <a:solidFill>
                  <a:srgbClr val="CE713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Amanat is the trust part.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41248" y="468172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EAA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Eeshan Singh Pokharia  ·  eeshan.singh53@gmail.com  ·  github.com/HERPESME/amanat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Amanat — amount-contingent settlement for agent-initiated payments</dc:title>
  <dc:subject>PptxGenJS Presentation</dc:subject>
  <dc:creator>Eeshan Singh Pokharia</dc:creator>
  <cp:lastModifiedBy>Eeshan Singh Pokharia</cp:lastModifiedBy>
  <cp:revision>1</cp:revision>
  <dcterms:created xsi:type="dcterms:W3CDTF">2026-09-20T06:36:42Z</dcterms:created>
  <dcterms:modified xsi:type="dcterms:W3CDTF">2026-09-20T06:36:42Z</dcterms:modified>
</cp:coreProperties>
</file>